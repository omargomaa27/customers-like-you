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B779"/>
    <a:srgbClr val="440154"/>
    <a:srgbClr val="FDE725"/>
    <a:srgbClr val="3168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42983" autoAdjust="0"/>
  </p:normalViewPr>
  <p:slideViewPr>
    <p:cSldViewPr snapToGrid="0" snapToObjects="1">
      <p:cViewPr>
        <p:scale>
          <a:sx n="59" d="100"/>
          <a:sy n="59" d="100"/>
        </p:scale>
        <p:origin x="124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 b="0">
                <a:solidFill>
                  <a:srgbClr val="6E7781"/>
                </a:solidFill>
                <a:latin typeface="Segoe UI"/>
              </a:rPr>
              <a:t>Reconstruction error falls with k, with diminishing returns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reconstruction error</c:v>
                </c:pt>
              </c:strCache>
            </c:strRef>
          </c:tx>
          <c:spPr>
            <a:ln w="31750">
              <a:solidFill>
                <a:srgbClr val="0F1419"/>
              </a:solidFill>
            </a:ln>
          </c:spPr>
          <c:marker>
            <c:spPr>
              <a:solidFill>
                <a:srgbClr val="0F1419"/>
              </a:solidFill>
              <a:ln>
                <a:solidFill>
                  <a:srgbClr val="0F1419"/>
                </a:solidFill>
              </a:ln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0F1419"/>
                    </a:solidFill>
                    <a:latin typeface="Segoe UI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10</c:v>
                </c:pt>
                <c:pt idx="1">
                  <c:v>20</c:v>
                </c:pt>
                <c:pt idx="2">
                  <c:v>50</c:v>
                </c:pt>
                <c:pt idx="3">
                  <c:v>100</c:v>
                </c:pt>
                <c:pt idx="4">
                  <c:v>200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0.75619999999999998</c:v>
                </c:pt>
                <c:pt idx="1">
                  <c:v>0.6875</c:v>
                </c:pt>
                <c:pt idx="2">
                  <c:v>0.58450000000000002</c:v>
                </c:pt>
                <c:pt idx="3">
                  <c:v>0.49609999999999999</c:v>
                </c:pt>
                <c:pt idx="4">
                  <c:v>0.39929999999999999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404-4119-94EA-AE18F9544E9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200" b="0">
                    <a:solidFill>
                      <a:srgbClr val="6E7781"/>
                    </a:solidFill>
                    <a:latin typeface="Segoe UI"/>
                  </a:rPr>
                  <a:t>k (number of components)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E7781"/>
                </a:solidFill>
                <a:latin typeface="Segoe UI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0.8"/>
          <c:min val="0.3"/>
        </c:scaling>
        <c:delete val="0"/>
        <c:axPos val="l"/>
        <c:majorGridlines>
          <c:spPr>
            <a:ln w="9525">
              <a:solidFill>
                <a:srgbClr val="E2E2E2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200">
                <a:solidFill>
                  <a:srgbClr val="6E7781"/>
                </a:solidFill>
                <a:latin typeface="Segoe UI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6E7781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Hit Rate@10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F1419"/>
              </a:solidFill>
            </c:spPr>
            <c:extLst>
              <c:ext xmlns:c16="http://schemas.microsoft.com/office/drawing/2014/chart" uri="{C3380CC4-5D6E-409C-BE32-E72D297353CC}">
                <c16:uniqueId val="{00000001-FB2A-4901-B01F-6DF1AA4555B7}"/>
              </c:ext>
            </c:extLst>
          </c:dPt>
          <c:dPt>
            <c:idx val="1"/>
            <c:invertIfNegative val="1"/>
            <c:bubble3D val="0"/>
            <c:spPr>
              <a:solidFill>
                <a:srgbClr val="FF5A1F"/>
              </a:solidFill>
            </c:spPr>
            <c:extLst>
              <c:ext xmlns:c16="http://schemas.microsoft.com/office/drawing/2014/chart" uri="{C3380CC4-5D6E-409C-BE32-E72D297353CC}">
                <c16:uniqueId val="{00000003-FB2A-4901-B01F-6DF1AA4555B7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1">
                    <a:solidFill>
                      <a:srgbClr val="0F1419"/>
                    </a:solidFill>
                    <a:latin typeface="Segoe U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Truncated SVD</c:v>
                </c:pt>
                <c:pt idx="1">
                  <c:v>Best-seller baseline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20.6</c:v>
                </c:pt>
                <c:pt idx="1">
                  <c:v>17.28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B2A-4901-B01F-6DF1AA4555B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24292F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5"/>
          <c:min val="0"/>
        </c:scaling>
        <c:delete val="0"/>
        <c:axPos val="l"/>
        <c:majorGridlines>
          <c:spPr>
            <a:ln w="9525">
              <a:solidFill>
                <a:srgbClr val="E2E2E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200" b="0">
                    <a:solidFill>
                      <a:srgbClr val="6E7781"/>
                    </a:solidFill>
                    <a:latin typeface="Segoe UI"/>
                  </a:rPr>
                  <a:t>Hit Rate@10 (%)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200">
                <a:solidFill>
                  <a:srgbClr val="6E7781"/>
                </a:solidFill>
                <a:latin typeface="Segoe U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300">
          <a:solidFill>
            <a:srgbClr val="6E7781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7037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Introduce myself</a:t>
            </a:r>
          </a:p>
          <a:p>
            <a:pPr marL="171450" indent="-171450">
              <a:buFontTx/>
              <a:buChar char="-"/>
            </a:pPr>
            <a:r>
              <a:rPr lang="en-US" dirty="0"/>
              <a:t>This is my individual project: I handled both Data engineer and ML engineer roles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goal </a:t>
            </a:r>
            <a:r>
              <a:rPr lang="en-US" dirty="0">
                <a:sym typeface="Wingdings" panose="05000000000000000000" pitchFamily="2" charset="2"/>
              </a:rPr>
              <a:t> take real retail transaction data, build </a:t>
            </a:r>
            <a:r>
              <a:rPr lang="en-US" dirty="0"/>
              <a:t>customer-product representation, and test whether dimensionality reduction could support personalized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1.06 million invoice lines </a:t>
            </a:r>
            <a:r>
              <a:rPr lang="en-US" dirty="0">
                <a:sym typeface="Wingdings" panose="05000000000000000000" pitchFamily="2" charset="2"/>
              </a:rPr>
              <a:t>802k valid rows after cleaning of which 684k used for training </a:t>
            </a:r>
          </a:p>
          <a:p>
            <a:pPr marL="0" indent="0">
              <a:buFontTx/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171450" indent="-171450">
              <a:buFontTx/>
              <a:buChar char="-"/>
            </a:pPr>
            <a:r>
              <a:rPr lang="en-US" dirty="0"/>
              <a:t>For cleaning, I removed cancelled invoices, non-positive quantities, non-positive prices, rows with missing customer IDs, and stock codes that represented charges rather than actual products.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I used time based split, last 2 months were treated as the test period 	85.2 – 14.8 split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Within the test period, I only evaluated products that a customer had not purchased before. That way, the model is being tested on genuinely new purchases rather than getting credit for recommending something already present in that customer’s history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Customer by product matrix was built with 5474 customers and 4529 products., it was 98.32% sparse: meaning almost all customer-product combinations were zero because each customer bought only a small fraction of the full catalog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Since the customer product matrix was 98.32% sparse, I used Truncated SVD because it can work with sparse Data without centering it first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SVD was applied using scikit learn </a:t>
            </a:r>
            <a:r>
              <a:rPr lang="en-US" dirty="0" err="1"/>
              <a:t>truncatedsvd</a:t>
            </a:r>
            <a:r>
              <a:rPr lang="en-US" dirty="0"/>
              <a:t> on the training customer product matrix. The model compresses the original thousands of product dimensions into a smaller set of latent components representing purchasing patterns 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I tested (k=10, 20, 50, 100 and 200)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Reconstruction error decreased as k increased, but with diminishing returns, so I selected </a:t>
            </a:r>
            <a:r>
              <a:rPr lang="en-US" b="1" dirty="0"/>
              <a:t>k=100</a:t>
            </a:r>
            <a:r>
              <a:rPr lang="en-US" dirty="0"/>
              <a:t>, where the error was </a:t>
            </a:r>
            <a:r>
              <a:rPr lang="en-US" b="1" dirty="0"/>
              <a:t>0.4961</a:t>
            </a:r>
          </a:p>
          <a:p>
            <a:pPr marL="171450" indent="-171450">
              <a:buFontTx/>
              <a:buChar char="-"/>
            </a:pPr>
            <a:endParaRPr lang="en-US" dirty="0">
              <a:sym typeface="Wingdings" panose="05000000000000000000" pitchFamily="2" charset="2"/>
            </a:endParaRPr>
          </a:p>
          <a:p>
            <a:pPr marL="171450" indent="-171450">
              <a:buFontTx/>
              <a:buChar char="-"/>
            </a:pPr>
            <a:r>
              <a:rPr lang="en-US" dirty="0"/>
              <a:t>The dense version of the matrix would be 189 MB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the 100 component latent factor was 7.63 MB</a:t>
            </a:r>
          </a:p>
          <a:p>
            <a:pPr marL="171450" indent="-171450">
              <a:buFontTx/>
              <a:buChar char="-"/>
            </a:pPr>
            <a:endParaRPr lang="en-US" dirty="0">
              <a:sym typeface="Wingdings" panose="05000000000000000000" pitchFamily="2" charset="2"/>
            </a:endParaRPr>
          </a:p>
          <a:p>
            <a:pPr marL="171450" indent="-171450">
              <a:buFontTx/>
              <a:buChar char="-"/>
            </a:pPr>
            <a:r>
              <a:rPr lang="en-US" dirty="0"/>
              <a:t>For recommendations, I normalized the product-factor vectors and used </a:t>
            </a:r>
            <a:r>
              <a:rPr lang="en-US" b="1" dirty="0"/>
              <a:t>cosine similarity</a:t>
            </a:r>
            <a:r>
              <a:rPr lang="en-US" dirty="0"/>
              <a:t> to generate personalized recommendations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The main evaluation metric was HitRate@10. it measures the % of customers where at least one actual held out purchase appeared in the top 10 recommendations.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Truncated SVD model achieved 20.60%, compared with 17.28% for best seller baseline. An improvement of 3.3%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I made the comparison fair by evaluating both methods on the same 1927 customers, the baseline also excluded products the customers had purchased before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Resulted in 397 hits on </a:t>
            </a:r>
            <a:r>
              <a:rPr lang="en-US" dirty="0" err="1"/>
              <a:t>svd</a:t>
            </a:r>
            <a:r>
              <a:rPr lang="en-US" dirty="0"/>
              <a:t>, vs 333 baseline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The recommendation scoring job took 1.56 seconds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PCA vs SVD had almost identical recommendation accuracy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The part I want to focus on here is the customer map. Each point represents one customer, and the plot shows them projected onto the first two SVD components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colors represent the four customer segments: Home and Utility, Novelty and Party, Decorative Homeware, and Bags and Storage.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The clustering itself was performed using the normalized SVD customer representation. These two components are just the 2D view of those groups.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named each group based on the products most associated with that cluster, because the numerical </a:t>
            </a:r>
            <a:r>
              <a:rPr lang="en-US" dirty="0" err="1"/>
              <a:t>KMeans</a:t>
            </a:r>
            <a:r>
              <a:rPr lang="en-US" dirty="0"/>
              <a:t> labels themselves are arbitrary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groups overlap rather than forming perfectly separated islands, which makes sense because customer purchasing behavior isn’t divided into completely distinct categories.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Recommend using the Truncated SVD recommender.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refresh the latent factors on a nightly schedule and continue tracking Hit Rate at 10 against the best-seller baseline, so I can see whether personalization continues to provide an advantage over time.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The main risks are new customers with little or no purchase history, rare products that have weaker factors, and changes in customer behavior over time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If I continued the project, the biggest change I would make would be how I choose k I tested several values of k but I mainly compared them using reconstruction error. Next time, I would also compare Hit Rate at 10 across those values so recommendation performance has a more direct role in selecting the final number of components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/>
              <a:t>I would also compare SVD against other recommender approaches and re-check whether the customer segments remain stable as more data is collected.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7A3F9-B1E6-4842-4266-9074237A7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EA9A80-7F0E-AF96-9DFD-9B15C80591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99E950-D65C-74AC-95DC-B93C9EBD2D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8D575-3773-2091-ED82-66FC90648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46249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88136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5400" b="1" dirty="0">
                <a:solidFill>
                  <a:srgbClr val="FFFFFF"/>
                </a:solidFill>
                <a:latin typeface="Segoe UI"/>
              </a:rPr>
              <a:t>Customers Like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97809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dirty="0">
                <a:solidFill>
                  <a:srgbClr val="FF5A1F"/>
                </a:solidFill>
                <a:latin typeface="Segoe UI"/>
              </a:rPr>
              <a:t>Omar Gomaa</a:t>
            </a:r>
          </a:p>
          <a:p>
            <a:pPr>
              <a:spcAft>
                <a:spcPts val="0"/>
              </a:spcAft>
            </a:pPr>
            <a:r>
              <a:rPr sz="1300" b="0" dirty="0">
                <a:solidFill>
                  <a:srgbClr val="F0F2F4"/>
                </a:solidFill>
                <a:latin typeface="Segoe UI"/>
              </a:rPr>
              <a:t>Individual project - Data Engineer and ML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F1419"/>
                </a:solidFill>
                <a:latin typeface="Segoe UI"/>
              </a:rPr>
              <a:t>From transactions to a sparse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4290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5A1F"/>
                </a:solidFill>
                <a:latin typeface="Segoe UI"/>
              </a:rPr>
              <a:t>1,067,371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6E7781"/>
                </a:solidFill>
                <a:latin typeface="Segoe UI"/>
              </a:rPr>
              <a:t>Raw invoice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61688" y="1371600"/>
            <a:ext cx="34290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5A1F"/>
                </a:solidFill>
                <a:latin typeface="Segoe UI"/>
              </a:rPr>
              <a:t>802,558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6E7781"/>
                </a:solidFill>
                <a:latin typeface="Segoe UI"/>
              </a:rPr>
              <a:t>After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83296" y="1371600"/>
            <a:ext cx="34290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5A1F"/>
                </a:solidFill>
                <a:latin typeface="Segoe UI"/>
              </a:rPr>
              <a:t>684,043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6E7781"/>
                </a:solidFill>
                <a:latin typeface="Segoe UI"/>
              </a:rPr>
              <a:t>Training 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F1419"/>
                </a:solidFill>
                <a:latin typeface="Segoe UI"/>
              </a:rPr>
              <a:t>Customer x product matrix, built from training rows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2560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0F1419"/>
                </a:solidFill>
                <a:latin typeface="Segoe UI"/>
              </a:rPr>
              <a:t>5,474 x 4,529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6E7781"/>
                </a:solidFill>
                <a:latin typeface="Segoe UI"/>
              </a:rPr>
              <a:t>customers x 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0711" y="3200400"/>
            <a:ext cx="2560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0F1419"/>
                </a:solidFill>
                <a:latin typeface="Segoe UI"/>
              </a:rPr>
              <a:t>98.32%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6E7781"/>
                </a:solidFill>
                <a:latin typeface="Segoe UI"/>
              </a:rPr>
              <a:t>sparse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1344" y="3200400"/>
            <a:ext cx="2560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0F1419"/>
                </a:solidFill>
                <a:latin typeface="Segoe UI"/>
              </a:rPr>
              <a:t>417,700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6E7781"/>
                </a:solidFill>
                <a:latin typeface="Segoe UI"/>
              </a:rPr>
              <a:t>non-zero cells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1976" y="3200400"/>
            <a:ext cx="25603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0F1419"/>
                </a:solidFill>
                <a:latin typeface="Segoe UI"/>
              </a:rPr>
              <a:t>72,876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6E7781"/>
                </a:solidFill>
                <a:latin typeface="Segoe UI"/>
              </a:rPr>
              <a:t>held-out unseen-product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983480"/>
            <a:ext cx="10881360" cy="1325880"/>
          </a:xfrm>
          <a:prstGeom prst="roundRect">
            <a:avLst>
              <a:gd name="adj" fmla="val 1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>
                <a:solidFill>
                  <a:srgbClr val="24292F"/>
                </a:solidFill>
                <a:latin typeface="Segoe UI"/>
              </a:rPr>
              <a:t>Removed: cancelled invoices, non-positive quantities and prices, rows with no Customer ID, and non-product charge codes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24292F"/>
                </a:solidFill>
                <a:latin typeface="Segoe UI"/>
              </a:rPr>
              <a:t>The last two months are the test period; for each customer I held out only products they had never bought before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dirty="0">
                <a:solidFill>
                  <a:srgbClr val="0F1419"/>
                </a:solidFill>
                <a:latin typeface="Segoe UI"/>
              </a:rPr>
              <a:t>Truncated SVD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325880"/>
          <a:ext cx="64008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60920" y="1325880"/>
            <a:ext cx="4160520" cy="990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dirty="0">
                <a:solidFill>
                  <a:srgbClr val="24292F"/>
                </a:solidFill>
                <a:latin typeface="Segoe UI"/>
              </a:rPr>
              <a:t>The matrix is 98.3% empty. PCA centers the columns, which </a:t>
            </a:r>
            <a:r>
              <a:rPr lang="en-US" sz="1400" b="0" dirty="0">
                <a:solidFill>
                  <a:srgbClr val="24292F"/>
                </a:solidFill>
                <a:latin typeface="Segoe UI"/>
              </a:rPr>
              <a:t>reduces</a:t>
            </a:r>
            <a:r>
              <a:rPr sz="1400" b="0" dirty="0">
                <a:solidFill>
                  <a:srgbClr val="24292F"/>
                </a:solidFill>
                <a:latin typeface="Segoe UI"/>
              </a:rPr>
              <a:t> sparsity.</a:t>
            </a:r>
          </a:p>
          <a:p>
            <a:pPr>
              <a:spcAft>
                <a:spcPts val="1000"/>
              </a:spcAft>
            </a:pPr>
            <a:r>
              <a:rPr sz="1400" b="0" dirty="0">
                <a:solidFill>
                  <a:srgbClr val="24292F"/>
                </a:solidFill>
                <a:latin typeface="Segoe UI"/>
              </a:rPr>
              <a:t>Truncated SVD works directly on sparse input and returns customer and product factors in one fit.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3063240"/>
            <a:ext cx="19659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dirty="0">
                <a:solidFill>
                  <a:srgbClr val="FF5A1F"/>
                </a:solidFill>
                <a:latin typeface="Segoe UI"/>
              </a:rPr>
              <a:t>k = 100</a:t>
            </a:r>
          </a:p>
          <a:p>
            <a:pPr>
              <a:spcAft>
                <a:spcPts val="0"/>
              </a:spcAft>
            </a:pPr>
            <a:r>
              <a:rPr sz="1200" b="0" dirty="0">
                <a:solidFill>
                  <a:srgbClr val="6E7781"/>
                </a:solidFill>
                <a:latin typeface="Segoe UI"/>
              </a:rPr>
              <a:t>components chosen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55480" y="3063240"/>
            <a:ext cx="19659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5A1F"/>
                </a:solidFill>
                <a:latin typeface="Segoe UI"/>
              </a:rPr>
              <a:t>0.4961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6E7781"/>
                </a:solidFill>
                <a:latin typeface="Segoe UI"/>
              </a:rPr>
              <a:t>relative 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4343400"/>
            <a:ext cx="41605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0F1419"/>
                </a:solidFill>
                <a:latin typeface="Segoe UI"/>
              </a:rPr>
              <a:t>What compression buys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24292F"/>
                </a:solidFill>
                <a:latin typeface="Segoe UI"/>
              </a:rPr>
              <a:t>189.15 MB dense  &gt;  7.63 MB latent factors</a:t>
            </a:r>
          </a:p>
          <a:p>
            <a:pPr>
              <a:spcAft>
                <a:spcPts val="0"/>
              </a:spcAft>
            </a:pPr>
            <a:r>
              <a:rPr sz="1200" b="0" dirty="0">
                <a:solidFill>
                  <a:srgbClr val="6E7781"/>
                </a:solidFill>
                <a:latin typeface="Segoe UI"/>
              </a:rPr>
              <a:t>The sparse CSR matrix is 4.80 MB, so the win is a compact latent representation for fast scoring, not raw storage against CSR.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0F1419"/>
                </a:solidFill>
                <a:latin typeface="Segoe UI"/>
              </a:rPr>
              <a:t>Personalization beats best sellers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6E7781"/>
                </a:solidFill>
                <a:latin typeface="Segoe UI"/>
              </a:rPr>
              <a:t>Real, but a modest margin - and measured on a deliberately strong baseline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691640"/>
          <a:ext cx="57607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766560" y="1691640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FF5A1F"/>
                </a:solidFill>
                <a:latin typeface="Segoe UI"/>
              </a:rPr>
              <a:t>+3.3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6E7781"/>
                </a:solidFill>
                <a:latin typeface="Segoe UI"/>
              </a:rPr>
              <a:t>percentage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81160" y="1691640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5A1F"/>
                </a:solidFill>
                <a:latin typeface="Segoe UI"/>
              </a:rPr>
              <a:t>1.56 s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6E7781"/>
                </a:solidFill>
                <a:latin typeface="Segoe UI"/>
              </a:rPr>
              <a:t>nightly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3154680"/>
            <a:ext cx="4754880" cy="2328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lang="en-US" sz="1800" b="1" dirty="0">
                <a:solidFill>
                  <a:srgbClr val="0F1419"/>
                </a:solidFill>
                <a:latin typeface="Segoe UI"/>
              </a:rPr>
              <a:t>Fair Comparison</a:t>
            </a:r>
            <a:endParaRPr sz="1800" b="1" dirty="0">
              <a:solidFill>
                <a:srgbClr val="0F1419"/>
              </a:solidFill>
              <a:latin typeface="Segoe UI"/>
            </a:endParaRPr>
          </a:p>
          <a:p>
            <a:pPr>
              <a:spcAft>
                <a:spcPts val="700"/>
              </a:spcAft>
            </a:pPr>
            <a:r>
              <a:rPr sz="1400" b="0" dirty="0">
                <a:solidFill>
                  <a:srgbClr val="24292F"/>
                </a:solidFill>
                <a:latin typeface="Segoe UI"/>
              </a:rPr>
              <a:t>Both scored on the same 1,927 eligible customers</a:t>
            </a:r>
          </a:p>
          <a:p>
            <a:pPr>
              <a:spcAft>
                <a:spcPts val="700"/>
              </a:spcAft>
            </a:pPr>
            <a:r>
              <a:rPr sz="1400" b="0" dirty="0">
                <a:solidFill>
                  <a:srgbClr val="24292F"/>
                </a:solidFill>
                <a:latin typeface="Segoe UI"/>
              </a:rPr>
              <a:t>Baseline recommends the 10 best sellers each customer has not already bought</a:t>
            </a:r>
          </a:p>
          <a:p>
            <a:pPr>
              <a:spcAft>
                <a:spcPts val="700"/>
              </a:spcAft>
            </a:pPr>
            <a:r>
              <a:rPr sz="1400" b="0" dirty="0">
                <a:solidFill>
                  <a:srgbClr val="24292F"/>
                </a:solidFill>
                <a:latin typeface="Segoe UI"/>
              </a:rPr>
              <a:t>Measured only on held-out purchases the model never saw</a:t>
            </a:r>
          </a:p>
          <a:p>
            <a:pPr>
              <a:spcAft>
                <a:spcPts val="1600"/>
              </a:spcAft>
            </a:pPr>
            <a:r>
              <a:rPr sz="1300" b="0" dirty="0">
                <a:solidFill>
                  <a:srgbClr val="6E7781"/>
                </a:solidFill>
                <a:latin typeface="Segoe UI"/>
              </a:rPr>
              <a:t>397 hits vs 333 hits</a:t>
            </a:r>
          </a:p>
          <a:p>
            <a:pPr>
              <a:spcAft>
                <a:spcPts val="0"/>
              </a:spcAft>
            </a:pPr>
            <a:r>
              <a:rPr sz="1300" b="0" dirty="0">
                <a:solidFill>
                  <a:srgbClr val="6E7781"/>
                </a:solidFill>
                <a:latin typeface="Segoe UI"/>
              </a:rPr>
              <a:t>Hit Rate@10 is the share of customers whose next purchase appears in our top ten suggestions.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dirty="0">
                <a:solidFill>
                  <a:srgbClr val="0F1419"/>
                </a:solidFill>
                <a:latin typeface="Segoe UI"/>
              </a:rPr>
              <a:t>PCA vs SVD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51206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Measure</a:t>
                      </a:r>
                    </a:p>
                  </a:txBody>
                  <a:tcPr anchor="ctr"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PCA</a:t>
                      </a:r>
                    </a:p>
                  </a:txBody>
                  <a:tcPr anchor="ctr"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SVD</a:t>
                      </a:r>
                    </a:p>
                  </a:txBody>
                  <a:tcPr anchor="ctr">
                    <a:solidFill>
                      <a:srgbClr val="0F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92F"/>
                          </a:solidFill>
                          <a:latin typeface="Segoe UI"/>
                        </a:rPr>
                        <a:t>Hit Rate@10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292F"/>
                          </a:solidFill>
                          <a:latin typeface="Segoe UI"/>
                        </a:rPr>
                        <a:t>20.13%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292F"/>
                          </a:solidFill>
                          <a:latin typeface="Segoe UI"/>
                        </a:rPr>
                        <a:t>20.60%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92F"/>
                          </a:solidFill>
                          <a:latin typeface="Segoe UI"/>
                        </a:rPr>
                        <a:t>Fit time</a:t>
                      </a:r>
                    </a:p>
                  </a:txBody>
                  <a:tcPr anchor="ctr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292F"/>
                          </a:solidFill>
                          <a:latin typeface="Segoe UI"/>
                        </a:rPr>
                        <a:t>0.48 s</a:t>
                      </a:r>
                    </a:p>
                  </a:txBody>
                  <a:tcPr anchor="ctr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292F"/>
                          </a:solidFill>
                          <a:latin typeface="Segoe UI"/>
                        </a:rPr>
                        <a:t>1.01 s</a:t>
                      </a:r>
                    </a:p>
                  </a:txBody>
                  <a:tcPr anchor="ctr">
                    <a:solidFill>
                      <a:srgbClr val="F0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92F"/>
                          </a:solidFill>
                          <a:latin typeface="Segoe UI"/>
                        </a:rPr>
                        <a:t>Peak memory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4292F"/>
                          </a:solidFill>
                          <a:latin typeface="Segoe UI"/>
                        </a:rPr>
                        <a:t>17.92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292F"/>
                          </a:solidFill>
                          <a:latin typeface="Segoe UI"/>
                        </a:rPr>
                        <a:t>17.70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92F"/>
                          </a:solidFill>
                          <a:latin typeface="Segoe UI"/>
                        </a:rPr>
                        <a:t>Stored factors</a:t>
                      </a:r>
                    </a:p>
                  </a:txBody>
                  <a:tcPr anchor="ctr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292F"/>
                          </a:solidFill>
                          <a:latin typeface="Segoe UI"/>
                        </a:rPr>
                        <a:t>7.63 MB</a:t>
                      </a:r>
                    </a:p>
                  </a:txBody>
                  <a:tcPr anchor="ctr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292F"/>
                          </a:solidFill>
                          <a:latin typeface="Segoe UI"/>
                        </a:rPr>
                        <a:t>7.63 MB</a:t>
                      </a:r>
                    </a:p>
                  </a:txBody>
                  <a:tcPr anchor="ctr">
                    <a:solidFill>
                      <a:srgbClr val="F0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4292F"/>
                          </a:solidFill>
                          <a:latin typeface="Segoe UI"/>
                        </a:rPr>
                        <a:t>Quality at k=100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4292F"/>
                          </a:solidFill>
                          <a:latin typeface="Segoe UI"/>
                        </a:rPr>
                        <a:t>74.81% var.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4292F"/>
                          </a:solidFill>
                          <a:latin typeface="Segoe UI"/>
                        </a:rPr>
                        <a:t>0.4961 err.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434840"/>
            <a:ext cx="512064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24292F"/>
                </a:solidFill>
                <a:latin typeface="Segoe UI"/>
              </a:rPr>
              <a:t>Near-identical accuracy. SVD was chosen because it fits sparse data natively, not because it scored dramatically higher.</a:t>
            </a:r>
          </a:p>
          <a:p>
            <a:pPr>
              <a:spcAft>
                <a:spcPts val="1400"/>
              </a:spcAft>
            </a:pPr>
            <a:r>
              <a:rPr sz="1300" b="0">
                <a:solidFill>
                  <a:srgbClr val="6E7781"/>
                </a:solidFill>
                <a:latin typeface="Segoe UI"/>
              </a:rPr>
              <a:t>Component 1 means the same thing in both: overall purchasing activity.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6E7781"/>
                </a:solidFill>
                <a:latin typeface="Segoe UI"/>
              </a:rPr>
              <a:t>Cluster numbers are arbitrary, so each segment is named from its top product, not its cluster number.</a:t>
            </a:r>
          </a:p>
        </p:txBody>
      </p:sp>
      <p:pic>
        <p:nvPicPr>
          <p:cNvPr id="5" name="Picture 4" descr="customer_seg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545" y="1371600"/>
            <a:ext cx="4206240" cy="33558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64665" y="1371600"/>
            <a:ext cx="160020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dirty="0">
                <a:solidFill>
                  <a:srgbClr val="0F1419"/>
                </a:solidFill>
                <a:latin typeface="Segoe UI"/>
              </a:rPr>
              <a:t>4 segments</a:t>
            </a:r>
          </a:p>
          <a:p>
            <a:pPr>
              <a:spcAft>
                <a:spcPts val="100"/>
              </a:spcAft>
            </a:pPr>
            <a:r>
              <a:rPr sz="1500" b="1" dirty="0">
                <a:solidFill>
                  <a:srgbClr val="FF5A1F"/>
                </a:solidFill>
                <a:latin typeface="Segoe UI"/>
              </a:rPr>
              <a:t>2,375</a:t>
            </a:r>
          </a:p>
          <a:p>
            <a:pPr>
              <a:spcAft>
                <a:spcPts val="700"/>
              </a:spcAft>
            </a:pPr>
            <a:r>
              <a:rPr sz="1100" b="0" dirty="0">
                <a:solidFill>
                  <a:srgbClr val="6E7781"/>
                </a:solidFill>
                <a:latin typeface="Segoe UI"/>
              </a:rPr>
              <a:t>Home &amp;</a:t>
            </a:r>
            <a:br>
              <a:rPr dirty="0"/>
            </a:br>
            <a:r>
              <a:rPr sz="1100" b="0" dirty="0">
                <a:solidFill>
                  <a:srgbClr val="6E7781"/>
                </a:solidFill>
                <a:latin typeface="Segoe UI"/>
              </a:rPr>
              <a:t>Utility</a:t>
            </a:r>
          </a:p>
          <a:p>
            <a:pPr>
              <a:spcAft>
                <a:spcPts val="100"/>
              </a:spcAft>
            </a:pPr>
            <a:r>
              <a:rPr sz="1500" b="1" dirty="0">
                <a:solidFill>
                  <a:srgbClr val="FF5A1F"/>
                </a:solidFill>
                <a:latin typeface="Segoe UI"/>
              </a:rPr>
              <a:t>1,575</a:t>
            </a:r>
          </a:p>
          <a:p>
            <a:pPr>
              <a:spcAft>
                <a:spcPts val="700"/>
              </a:spcAft>
            </a:pPr>
            <a:r>
              <a:rPr sz="1100" b="0" dirty="0">
                <a:solidFill>
                  <a:srgbClr val="6E7781"/>
                </a:solidFill>
                <a:latin typeface="Segoe UI"/>
              </a:rPr>
              <a:t>Novelty &amp;</a:t>
            </a:r>
            <a:br>
              <a:rPr dirty="0"/>
            </a:br>
            <a:r>
              <a:rPr sz="1100" b="0" dirty="0">
                <a:solidFill>
                  <a:srgbClr val="6E7781"/>
                </a:solidFill>
                <a:latin typeface="Segoe UI"/>
              </a:rPr>
              <a:t>Party</a:t>
            </a:r>
          </a:p>
          <a:p>
            <a:pPr>
              <a:spcAft>
                <a:spcPts val="100"/>
              </a:spcAft>
            </a:pPr>
            <a:r>
              <a:rPr sz="1500" b="1" dirty="0">
                <a:solidFill>
                  <a:srgbClr val="FF5A1F"/>
                </a:solidFill>
                <a:latin typeface="Segoe UI"/>
              </a:rPr>
              <a:t>831</a:t>
            </a:r>
          </a:p>
          <a:p>
            <a:pPr>
              <a:spcAft>
                <a:spcPts val="700"/>
              </a:spcAft>
            </a:pPr>
            <a:r>
              <a:rPr sz="1100" b="0" dirty="0">
                <a:solidFill>
                  <a:srgbClr val="6E7781"/>
                </a:solidFill>
                <a:latin typeface="Segoe UI"/>
              </a:rPr>
              <a:t>Decorative</a:t>
            </a:r>
            <a:br>
              <a:rPr dirty="0"/>
            </a:br>
            <a:r>
              <a:rPr sz="1100" b="0" dirty="0">
                <a:solidFill>
                  <a:srgbClr val="6E7781"/>
                </a:solidFill>
                <a:latin typeface="Segoe UI"/>
              </a:rPr>
              <a:t>Homeware</a:t>
            </a:r>
          </a:p>
          <a:p>
            <a:pPr>
              <a:spcAft>
                <a:spcPts val="100"/>
              </a:spcAft>
            </a:pPr>
            <a:r>
              <a:rPr sz="1500" b="1" dirty="0">
                <a:solidFill>
                  <a:srgbClr val="FF5A1F"/>
                </a:solidFill>
                <a:latin typeface="Segoe UI"/>
              </a:rPr>
              <a:t>693</a:t>
            </a:r>
          </a:p>
          <a:p>
            <a:pPr>
              <a:spcAft>
                <a:spcPts val="700"/>
              </a:spcAft>
            </a:pPr>
            <a:r>
              <a:rPr sz="1100" b="0" dirty="0">
                <a:solidFill>
                  <a:srgbClr val="6E7781"/>
                </a:solidFill>
                <a:latin typeface="Segoe UI"/>
              </a:rPr>
              <a:t>Bags &amp;</a:t>
            </a:r>
            <a:br>
              <a:rPr dirty="0"/>
            </a:br>
            <a:r>
              <a:rPr sz="1100" b="0" dirty="0">
                <a:solidFill>
                  <a:srgbClr val="6E7781"/>
                </a:solidFill>
                <a:latin typeface="Segoe UI"/>
              </a:rPr>
              <a:t>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75545" y="4983480"/>
            <a:ext cx="5486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E7781"/>
                </a:solidFill>
                <a:latin typeface="Segoe UI"/>
              </a:rPr>
              <a:t>Customers projected on two SVD components, clustered into four groups and named from their top products. No customer IDs appear in the figure.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109B37A-5E7D-C95B-2A18-B4BAF55D823D}"/>
              </a:ext>
            </a:extLst>
          </p:cNvPr>
          <p:cNvSpPr/>
          <p:nvPr/>
        </p:nvSpPr>
        <p:spPr>
          <a:xfrm>
            <a:off x="11064765" y="1769877"/>
            <a:ext cx="218570" cy="21857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CA1F903-E324-6671-ECE0-76308FB52D48}"/>
              </a:ext>
            </a:extLst>
          </p:cNvPr>
          <p:cNvSpPr/>
          <p:nvPr/>
        </p:nvSpPr>
        <p:spPr>
          <a:xfrm>
            <a:off x="11064765" y="2414459"/>
            <a:ext cx="218570" cy="218570"/>
          </a:xfrm>
          <a:prstGeom prst="roundRect">
            <a:avLst/>
          </a:prstGeom>
          <a:solidFill>
            <a:srgbClr val="FDE72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F642CB1-ADB7-49BE-8E7B-3A0094370E7E}"/>
              </a:ext>
            </a:extLst>
          </p:cNvPr>
          <p:cNvSpPr/>
          <p:nvPr/>
        </p:nvSpPr>
        <p:spPr>
          <a:xfrm>
            <a:off x="11064765" y="3319715"/>
            <a:ext cx="218570" cy="218570"/>
          </a:xfrm>
          <a:prstGeom prst="roundRect">
            <a:avLst/>
          </a:prstGeom>
          <a:solidFill>
            <a:srgbClr val="44015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4645E2C-B742-D5C5-510A-3B1CC910860E}"/>
              </a:ext>
            </a:extLst>
          </p:cNvPr>
          <p:cNvSpPr/>
          <p:nvPr/>
        </p:nvSpPr>
        <p:spPr>
          <a:xfrm>
            <a:off x="11064765" y="4037297"/>
            <a:ext cx="218570" cy="218570"/>
          </a:xfrm>
          <a:prstGeom prst="roundRect">
            <a:avLst/>
          </a:prstGeom>
          <a:solidFill>
            <a:srgbClr val="35B7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dirty="0">
                <a:solidFill>
                  <a:srgbClr val="FFFFFF"/>
                </a:solidFill>
                <a:latin typeface="Segoe UI"/>
              </a:rPr>
              <a:t>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429000" cy="2788920"/>
          </a:xfrm>
          <a:prstGeom prst="roundRect">
            <a:avLst>
              <a:gd name="adj" fmla="val 6000"/>
            </a:avLst>
          </a:prstGeom>
          <a:solidFill>
            <a:srgbClr val="1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2880360" cy="1944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 dirty="0">
                <a:solidFill>
                  <a:srgbClr val="FF5A1F"/>
                </a:solidFill>
                <a:latin typeface="Segoe UI"/>
              </a:rPr>
              <a:t>Recommend</a:t>
            </a:r>
          </a:p>
          <a:p>
            <a:pPr>
              <a:spcAft>
                <a:spcPts val="1100"/>
              </a:spcAft>
            </a:pPr>
            <a:r>
              <a:rPr sz="1300" b="0" dirty="0">
                <a:solidFill>
                  <a:srgbClr val="FFFFFF"/>
                </a:solidFill>
                <a:latin typeface="Segoe UI"/>
              </a:rPr>
              <a:t>Truncated SVD recommender on product pages</a:t>
            </a:r>
          </a:p>
          <a:p>
            <a:pPr>
              <a:spcAft>
                <a:spcPts val="1100"/>
              </a:spcAft>
            </a:pPr>
            <a:r>
              <a:rPr sz="1300" b="0" dirty="0">
                <a:solidFill>
                  <a:srgbClr val="FFFFFF"/>
                </a:solidFill>
                <a:latin typeface="Segoe UI"/>
              </a:rPr>
              <a:t>Refresh the factors on the existing nightly schedule</a:t>
            </a:r>
          </a:p>
          <a:p>
            <a:pPr>
              <a:spcAft>
                <a:spcPts val="1100"/>
              </a:spcAft>
            </a:pPr>
            <a:r>
              <a:rPr sz="1300" b="0" dirty="0">
                <a:solidFill>
                  <a:srgbClr val="FFFFFF"/>
                </a:solidFill>
                <a:latin typeface="Segoe UI"/>
              </a:rPr>
              <a:t>Track Hit Rate@10 against the best-seller baseline every run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00200"/>
            <a:ext cx="3429000" cy="2788920"/>
          </a:xfrm>
          <a:prstGeom prst="roundRect">
            <a:avLst>
              <a:gd name="adj" fmla="val 6000"/>
            </a:avLst>
          </a:prstGeom>
          <a:solidFill>
            <a:srgbClr val="1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9159" y="1874519"/>
            <a:ext cx="2880360" cy="17440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 dirty="0">
                <a:solidFill>
                  <a:srgbClr val="FF5A1F"/>
                </a:solidFill>
                <a:latin typeface="Segoe UI"/>
              </a:rPr>
              <a:t>Risks</a:t>
            </a:r>
          </a:p>
          <a:p>
            <a:pPr>
              <a:spcAft>
                <a:spcPts val="1100"/>
              </a:spcAft>
            </a:pPr>
            <a:r>
              <a:rPr lang="en-US" sz="1300" b="0" dirty="0">
                <a:solidFill>
                  <a:srgbClr val="FFFFFF"/>
                </a:solidFill>
                <a:latin typeface="Segoe UI"/>
              </a:rPr>
              <a:t>New </a:t>
            </a:r>
            <a:r>
              <a:rPr sz="1300" b="0" dirty="0">
                <a:solidFill>
                  <a:srgbClr val="FFFFFF"/>
                </a:solidFill>
                <a:latin typeface="Segoe UI"/>
              </a:rPr>
              <a:t>customers with little or no history</a:t>
            </a:r>
          </a:p>
          <a:p>
            <a:pPr>
              <a:spcAft>
                <a:spcPts val="1100"/>
              </a:spcAft>
            </a:pPr>
            <a:r>
              <a:rPr sz="1300" b="0" dirty="0">
                <a:solidFill>
                  <a:srgbClr val="FFFFFF"/>
                </a:solidFill>
                <a:latin typeface="Segoe UI"/>
              </a:rPr>
              <a:t>Rare products carry weaker, noisier factors</a:t>
            </a:r>
          </a:p>
          <a:p>
            <a:pPr>
              <a:spcAft>
                <a:spcPts val="1100"/>
              </a:spcAft>
            </a:pPr>
            <a:r>
              <a:rPr lang="en-US" sz="1300" b="0" dirty="0" err="1">
                <a:solidFill>
                  <a:srgbClr val="FFFFFF"/>
                </a:solidFill>
                <a:latin typeface="Segoe UI"/>
              </a:rPr>
              <a:t>Behaviour</a:t>
            </a:r>
            <a:r>
              <a:rPr sz="1300" b="0" dirty="0">
                <a:solidFill>
                  <a:srgbClr val="FFFFFF"/>
                </a:solidFill>
                <a:latin typeface="Segoe UI"/>
              </a:rPr>
              <a:t> drifts, so today's +3.3 points can decay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600200"/>
            <a:ext cx="3429000" cy="2788920"/>
          </a:xfrm>
          <a:prstGeom prst="roundRect">
            <a:avLst>
              <a:gd name="adj" fmla="val 6000"/>
            </a:avLst>
          </a:prstGeom>
          <a:solidFill>
            <a:srgbClr val="17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1874519"/>
            <a:ext cx="288036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 dirty="0">
                <a:solidFill>
                  <a:srgbClr val="FF5A1F"/>
                </a:solidFill>
                <a:latin typeface="Segoe UI"/>
              </a:rPr>
              <a:t>Next</a:t>
            </a:r>
          </a:p>
          <a:p>
            <a:pPr>
              <a:spcAft>
                <a:spcPts val="1100"/>
              </a:spcAft>
            </a:pPr>
            <a:r>
              <a:rPr sz="1300" b="0" dirty="0">
                <a:solidFill>
                  <a:srgbClr val="FFFFFF"/>
                </a:solidFill>
                <a:latin typeface="Segoe UI"/>
              </a:rPr>
              <a:t>Choose k on hit rate, not reconstruction error alone</a:t>
            </a:r>
          </a:p>
          <a:p>
            <a:pPr>
              <a:spcAft>
                <a:spcPts val="1100"/>
              </a:spcAft>
            </a:pPr>
            <a:r>
              <a:rPr sz="1300" b="0" dirty="0">
                <a:solidFill>
                  <a:srgbClr val="FFFFFF"/>
                </a:solidFill>
                <a:latin typeface="Segoe UI"/>
              </a:rPr>
              <a:t>Compare against other recommender families</a:t>
            </a:r>
          </a:p>
          <a:p>
            <a:pPr>
              <a:spcAft>
                <a:spcPts val="1100"/>
              </a:spcAft>
            </a:pPr>
            <a:r>
              <a:rPr sz="1300" b="0" dirty="0">
                <a:solidFill>
                  <a:srgbClr val="FFFFFF"/>
                </a:solidFill>
                <a:latin typeface="Segoe UI"/>
              </a:rPr>
              <a:t>Re-check segment stability as data grows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F9F2B-9432-183D-8A16-BEE62B355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C9C985-2524-1AA6-2324-012C0D32198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EAD4C4-672F-4E66-DD03-BB0C943A309A}"/>
              </a:ext>
            </a:extLst>
          </p:cNvPr>
          <p:cNvSpPr txBox="1"/>
          <p:nvPr/>
        </p:nvSpPr>
        <p:spPr>
          <a:xfrm>
            <a:off x="-305" y="3013501"/>
            <a:ext cx="121920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US" sz="5400" b="1" dirty="0">
                <a:solidFill>
                  <a:srgbClr val="FFFFFF"/>
                </a:solidFill>
                <a:latin typeface="Segoe UI"/>
              </a:rPr>
              <a:t>Thank you</a:t>
            </a:r>
            <a:endParaRPr sz="5400" b="1" dirty="0">
              <a:solidFill>
                <a:srgbClr val="FFFFF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195171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1193</Words>
  <Application>Microsoft Office PowerPoint</Application>
  <PresentationFormat>Widescreen</PresentationFormat>
  <Paragraphs>143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Customers Like You</dc:title>
  <dc:subject>PCA vs Truncated SVD recommender on UCI Online Retail II</dc:subject>
  <dc:creator>Omar Gomaa</dc:creator>
  <cp:keywords/>
  <dc:description/>
  <cp:lastModifiedBy>Omar Gomaa</cp:lastModifiedBy>
  <cp:revision>5</cp:revision>
  <dcterms:created xsi:type="dcterms:W3CDTF">2013-01-27T09:14:16Z</dcterms:created>
  <dcterms:modified xsi:type="dcterms:W3CDTF">2026-10-14T21:36:25Z</dcterms:modified>
  <cp:category/>
</cp:coreProperties>
</file>